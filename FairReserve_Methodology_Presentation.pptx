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A78BFA"/>
                </a:solidFill>
                <a:latin typeface="Consolas"/>
              </a:defRPr>
            </a:pPr>
            <a:r>
              <a:t>UNIVERSITY PROJECT  •  UX DESIGN &amp; HCI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FAFC"/>
                </a:solidFill>
                <a:latin typeface="Calibri"/>
              </a:defRPr>
            </a:pPr>
            <a:r>
              <a:t>Measurement Methodology</a:t>
            </a:r>
            <a:br/>
            <a:r>
              <a:t>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A78BFA"/>
                </a:solidFill>
                <a:latin typeface="Calibri"/>
              </a:defRPr>
            </a:pPr>
            <a:r>
              <a:t>FairReserve UX Conflict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BD5E1"/>
                </a:solidFill>
                <a:latin typeface="Calibri"/>
              </a:defRPr>
            </a:pPr>
            <a:r>
              <a:t>From Good UX to Very Good UX — Accessibility-Driven Improvement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  <a:latin typeface="Calibri"/>
              </a:defRPr>
            </a:pPr>
            <a:r>
              <a:t>Member 2 Contribution — Code-Level Accessibility Enhancements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78BFA"/>
                </a:solidFill>
                <a:latin typeface="Consolas"/>
              </a:defRPr>
            </a:pPr>
            <a:r>
              <a:t>المشكلة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8FAFC"/>
                </a:solidFill>
                <a:latin typeface="Calibri"/>
              </a:defRPr>
            </a:pPr>
            <a:r>
              <a:t>Good UX بيفترض مستخدم "مثالي"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Calibri"/>
              </a:defRPr>
            </a:pPr>
            <a:r>
              <a:t>التصميم الأخلاقي يلي عملته Member 1 حلّ مشاكل الخداع — لكنه بيشتغل بس لشخص عنده ماوس وبصر سليم.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5303520" cy="3474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06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7171"/>
                </a:solidFill>
                <a:latin typeface="Calibri"/>
              </a:defRPr>
            </a:pPr>
            <a:r>
              <a:t>4 مشاكل بالـ Good 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1546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Calibri"/>
              </a:defRPr>
            </a:pPr>
            <a:r>
              <a:t>① حقول بدون labels مربوطة — screen reader يقول "edit text"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7947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Calibri"/>
              </a:defRPr>
            </a:pPr>
            <a:r>
              <a:t>② بطاقات الإضافات ما بتنضغط بالكيبورد — Tab بيقفز فوقها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4348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Calibri"/>
              </a:defRPr>
            </a:pPr>
            <a:r>
              <a:t>③ تغييرات السعر صامتة — الكفيف ما بيعرف المبلغ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07492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Calibri"/>
              </a:defRPr>
            </a:pPr>
            <a:r>
              <a:t>④ كيبورد QWERTY لحقول الأرقام — 3 تبديلات يدوية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468880"/>
            <a:ext cx="5029200" cy="3474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606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Calibri"/>
              </a:defRPr>
            </a:pPr>
            <a:r>
              <a:t>الحل: Very Good UX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1546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Calibri"/>
              </a:defRPr>
            </a:pPr>
            <a:r>
              <a:t>✓ htmlFor — ربط العنوان بالحقل برمجياً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794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Calibri"/>
              </a:defRPr>
            </a:pPr>
            <a:r>
              <a:t>✓ tabIndex — تنقل بالكيبورد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4348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Calibri"/>
              </a:defRPr>
            </a:pPr>
            <a:r>
              <a:t>✓ aria-live — إعلان تغييرات السعر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50749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Calibri"/>
              </a:defRPr>
            </a:pPr>
            <a:r>
              <a:t>✓ inputMode + autoComplete — الكيبورد الصح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78BFA"/>
                </a:solidFill>
                <a:latin typeface="Consolas"/>
              </a:defRPr>
            </a:pPr>
            <a:r>
              <a:t>النتائج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Calibri"/>
              </a:defRPr>
            </a:pPr>
            <a:r>
              <a:t>8 مقاييس تحسّنت — كل رقم إله معادلة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46888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A78BFA"/>
                </a:solidFill>
                <a:latin typeface="Calibri"/>
              </a:defRPr>
            </a:pPr>
            <a:r>
              <a:t>88s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23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Time-on-Task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97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4D399"/>
                </a:solidFill>
                <a:latin typeface="Consolas"/>
              </a:defRPr>
            </a:pPr>
            <a:r>
              <a:t>−14s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828800"/>
            <a:ext cx="246888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965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A78BFA"/>
                </a:solidFill>
                <a:latin typeface="Calibri"/>
              </a:defRPr>
            </a:pPr>
            <a:r>
              <a:t>1.8%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423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Error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697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4D399"/>
                </a:solidFill>
                <a:latin typeface="Consolas"/>
              </a:defRPr>
            </a:pPr>
            <a:r>
              <a:t>−47%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28800"/>
            <a:ext cx="246888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965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A78BFA"/>
                </a:solidFill>
                <a:latin typeface="Calibri"/>
              </a:defRPr>
            </a:pPr>
            <a:r>
              <a:t>92.1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23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697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4D399"/>
                </a:solidFill>
                <a:latin typeface="Consolas"/>
              </a:defRPr>
            </a:pPr>
            <a:r>
              <a:t>+3.6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828800"/>
            <a:ext cx="246888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1965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A78BFA"/>
                </a:solidFill>
                <a:latin typeface="Calibri"/>
              </a:defRPr>
            </a:pPr>
            <a:r>
              <a:t>+75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2423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NPS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697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4D399"/>
                </a:solidFill>
                <a:latin typeface="Consolas"/>
              </a:defRPr>
            </a:pPr>
            <a:r>
              <a:t>+7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474720"/>
            <a:ext cx="246888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61187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A78BFA"/>
                </a:solidFill>
                <a:latin typeface="Calibri"/>
              </a:defRPr>
            </a:pPr>
            <a:r>
              <a:t>1.2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069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343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4D399"/>
                </a:solidFill>
                <a:latin typeface="Consolas"/>
              </a:defRPr>
            </a:pPr>
            <a:r>
              <a:t>−0.6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66160" y="3474720"/>
            <a:ext cx="246888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61187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A78BFA"/>
                </a:solidFill>
                <a:latin typeface="Calibri"/>
              </a:defRPr>
            </a:pPr>
            <a:r>
              <a:t>84.2%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4069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Funnel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4343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4D399"/>
                </a:solidFill>
                <a:latin typeface="Consolas"/>
              </a:defRPr>
            </a:pPr>
            <a:r>
              <a:t>+5.8pp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474720"/>
            <a:ext cx="246888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361187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A78BFA"/>
                </a:solidFill>
                <a:latin typeface="Calibri"/>
              </a:defRPr>
            </a:pPr>
            <a:r>
              <a:t>0.2%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069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Chargebacks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343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4D399"/>
                </a:solidFill>
                <a:latin typeface="Consolas"/>
              </a:defRPr>
            </a:pPr>
            <a:r>
              <a:t>−50%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35440" y="3474720"/>
            <a:ext cx="246888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0" y="361187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A78BFA"/>
                </a:solidFill>
                <a:latin typeface="Calibri"/>
              </a:defRPr>
            </a:pPr>
            <a:r>
              <a:t>58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4069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WCAG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4343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4D399"/>
                </a:solidFill>
                <a:latin typeface="Consolas"/>
              </a:defRPr>
            </a:pPr>
            <a:r>
              <a:t>+16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3035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37 HTML attribute عبر 14 ملفاً — بدون تغيير التصميم البصري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78BFA"/>
                </a:solidFill>
                <a:latin typeface="Consolas"/>
              </a:defRPr>
            </a:pPr>
            <a:r>
              <a:t>التحسينات المُنفَّذة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Calibri"/>
              </a:defRPr>
            </a:pPr>
            <a:r>
              <a:t>6 تقنيات Accessibility — 37 Attribute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Consolas"/>
              </a:defRPr>
            </a:pPr>
            <a:r>
              <a:t>#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Consolas"/>
              </a:defRPr>
            </a:pPr>
            <a:r>
              <a:t>Attribute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828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Consolas"/>
              </a:defRPr>
            </a:pPr>
            <a:r>
              <a:t>الملف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Consolas"/>
              </a:defRPr>
            </a:pPr>
            <a:r>
              <a:t>العدد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Consolas"/>
              </a:defRPr>
            </a:pPr>
            <a:r>
              <a:t>WCAG 2.2 Criterion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48840"/>
            <a:ext cx="10241280" cy="254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onsolas"/>
              </a:defRPr>
            </a:pPr>
            <a:r>
              <a:t>htmlFor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CheckoutStep.tsx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2860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78BFA"/>
                </a:solidFill>
                <a:latin typeface="Consolas"/>
              </a:defRPr>
            </a:pPr>
            <a:r>
              <a:t>×6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286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1.3.1 Info &amp; Relationships (A)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788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788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onsolas"/>
              </a:defRPr>
            </a:pPr>
            <a:r>
              <a:t>inputMode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788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CheckoutStep.tsx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788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78BFA"/>
                </a:solidFill>
                <a:latin typeface="Consolas"/>
              </a:defRPr>
            </a:pPr>
            <a:r>
              <a:t>×5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788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1.3.5 Identify Input Purpose (AA)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291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291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onsolas"/>
              </a:defRPr>
            </a:pPr>
            <a:r>
              <a:t>autoComplete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3291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CheckoutStep.tsx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2918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78BFA"/>
                </a:solidFill>
                <a:latin typeface="Consolas"/>
              </a:defRPr>
            </a:pPr>
            <a:r>
              <a:t>×6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3291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1.3.5 Identify Input Purpose (AA)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794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3794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onsolas"/>
              </a:defRPr>
            </a:pPr>
            <a:r>
              <a:t>aria-live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3794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Checkout + AddOns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37947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78BFA"/>
                </a:solidFill>
                <a:latin typeface="Consolas"/>
              </a:defRPr>
            </a:pPr>
            <a:r>
              <a:t>×2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3794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4.1.3 Status Messages (AA)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297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4297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onsolas"/>
              </a:defRPr>
            </a:pPr>
            <a:r>
              <a:t>tabIndex + onKeyDown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AddOnsStep.tsx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42976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78BFA"/>
                </a:solidFill>
                <a:latin typeface="Consolas"/>
              </a:defRPr>
            </a:pPr>
            <a:r>
              <a:t>×1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4297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2.1.1 Keyboard (A)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4800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88720" y="4800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onsolas"/>
              </a:defRPr>
            </a:pPr>
            <a:r>
              <a:t>aria-label + aria-pressed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74720" y="4800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Header.tsx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4800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78BFA"/>
                </a:solidFill>
                <a:latin typeface="Consolas"/>
              </a:defRPr>
            </a:pPr>
            <a:r>
              <a:t>×11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4800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4.1.2 Name, Role, Value (A)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78BFA"/>
                </a:solidFill>
                <a:latin typeface="Consolas"/>
              </a:defRPr>
            </a:pPr>
            <a:r>
              <a:t>المنهجية 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Calibri"/>
              </a:defRPr>
            </a:pPr>
            <a:r>
              <a:t>KLM — Keystroke-Level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Card, Moran &amp; Newell, 1983 — نموذج رياضي لحساب وقت إتمام المهمة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  <a:latin typeface="Consolas"/>
              </a:defRPr>
            </a:pPr>
            <a:r>
              <a:t>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Calibri"/>
              </a:defRPr>
            </a:pPr>
            <a:r>
              <a:t>Keystroke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0116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4748B"/>
                </a:solidFill>
                <a:latin typeface="Consolas"/>
              </a:defRPr>
            </a:pPr>
            <a:r>
              <a:t>0.28s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  <a:latin typeface="Consolas"/>
              </a:defRPr>
            </a:pPr>
            <a:r>
              <a:t>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468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Calibri"/>
              </a:defRPr>
            </a:pPr>
            <a:r>
              <a:t>Pointing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4688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4748B"/>
                </a:solidFill>
                <a:latin typeface="Consolas"/>
              </a:defRPr>
            </a:pPr>
            <a:r>
              <a:t>1.10s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26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  <a:latin typeface="Consolas"/>
              </a:defRPr>
            </a:pPr>
            <a:r>
              <a:t>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Calibri"/>
              </a:defRPr>
            </a:pPr>
            <a:r>
              <a:t>Homing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926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4748B"/>
                </a:solidFill>
                <a:latin typeface="Consolas"/>
              </a:defRPr>
            </a:pPr>
            <a:r>
              <a:t>0.40s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3832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  <a:latin typeface="Consolas"/>
              </a:defRPr>
            </a:pPr>
            <a:r>
              <a:t>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383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Calibri"/>
              </a:defRPr>
            </a:pPr>
            <a:r>
              <a:t>Mental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3832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4748B"/>
                </a:solidFill>
                <a:latin typeface="Consolas"/>
              </a:defRPr>
            </a:pPr>
            <a:r>
              <a:t>1.35s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1828800"/>
            <a:ext cx="5486400" cy="3657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2011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Consolas"/>
              </a:defRPr>
            </a:pPr>
            <a:r>
              <a:t>الحساب — TIME-ON-TASK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468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BD5E1"/>
                </a:solidFill>
                <a:latin typeface="Calibri"/>
              </a:defRPr>
            </a:pPr>
            <a:r>
              <a:t>بدون autoComplete: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834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onsolas"/>
              </a:defRPr>
            </a:pPr>
            <a:r>
              <a:t>16K + 5K + 3K + 15K + 22K + 11K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200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7171"/>
                </a:solidFill>
                <a:latin typeface="Consolas"/>
              </a:defRPr>
            </a:pPr>
            <a:r>
              <a:t>= 72 keystrokes × 0.28 + 6M = 28.66s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74903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BD5E1"/>
                </a:solidFill>
                <a:latin typeface="Calibri"/>
              </a:defRPr>
            </a:pPr>
            <a:r>
              <a:t>مع autoComplete: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114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4D399"/>
                </a:solidFill>
                <a:latin typeface="Consolas"/>
              </a:defRPr>
            </a:pPr>
            <a:r>
              <a:t>2P = 2.20s (بفرض 50%)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480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Calibri"/>
              </a:defRPr>
            </a:pPr>
            <a:r>
              <a:t>التوفير ≈ 14 ثانية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937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  <a:latin typeface="Consolas"/>
              </a:defRPr>
            </a:pPr>
            <a:r>
              <a:t>102 − 14 = 88s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78BFA"/>
                </a:solidFill>
                <a:latin typeface="Consolas"/>
              </a:defRPr>
            </a:pPr>
            <a:r>
              <a:t>المنهجية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Calibri"/>
              </a:defRPr>
            </a:pPr>
            <a:r>
              <a:t>Fitts' Law — Error 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Paul Fitts, 1954 — العلاقة بين حجم الهدف ومعدل الأخطاء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A78BFA"/>
                </a:solidFill>
                <a:latin typeface="Consolas"/>
              </a:defRPr>
            </a:pPr>
            <a:r>
              <a:t>T = a + b × log₂(1 + D/W)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26080"/>
            <a:ext cx="502920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063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4748B"/>
                </a:solidFill>
                <a:latin typeface="Calibri"/>
              </a:defRPr>
            </a:pPr>
            <a:r>
              <a:t>بدون htmlFor (Good)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29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منطقة الضغط = الحقل فقط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87171"/>
                </a:solidFill>
                <a:latin typeface="Consolas"/>
              </a:defRPr>
            </a:pPr>
            <a:r>
              <a:t>200 × 36 = 7,200 px²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926080"/>
            <a:ext cx="502920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3063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Calibri"/>
              </a:defRPr>
            </a:pPr>
            <a:r>
              <a:t>مع htmlFor (Very Good)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429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منطقة الضغط = العنوان + الحقل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840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A78BFA"/>
                </a:solidFill>
                <a:latin typeface="Consolas"/>
              </a:defRPr>
            </a:pPr>
            <a:r>
              <a:t>200 × 56 = 11,200 px²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0" y="4846320"/>
            <a:ext cx="758952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0" y="4937760"/>
            <a:ext cx="7040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4D399"/>
                </a:solidFill>
                <a:latin typeface="Calibri"/>
              </a:defRPr>
            </a:pPr>
            <a:r>
              <a:t>+55.6% مساحة  →  Error Rate ينخفض 47%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5257800"/>
            <a:ext cx="7040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A78BFA"/>
                </a:solidFill>
                <a:latin typeface="Consolas"/>
              </a:defRPr>
            </a:pPr>
            <a:r>
              <a:t>3.4% × 0.53 = 1.80%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78BFA"/>
                </a:solidFill>
                <a:latin typeface="Consolas"/>
              </a:defRPr>
            </a:pPr>
            <a:r>
              <a:t>المنهجية ③④⑤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Calibri"/>
              </a:defRPr>
            </a:pPr>
            <a:r>
              <a:t>SUS · NPS · 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  <a:latin typeface="Calibri"/>
              </a:defRPr>
            </a:pPr>
            <a:r>
              <a:t>SUS — Brooke, 1986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10 أسئلة × مقياس 1–5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النتيجة: 0–100</a:t>
            </a:r>
          </a:p>
          <a:p>
            <a:pPr algn="l">
              <a:spcBef>
                <a:spcPts val="800"/>
              </a:spcBef>
              <a:defRPr sz="1200" b="0">
                <a:solidFill>
                  <a:srgbClr val="64748B"/>
                </a:solidFill>
                <a:latin typeface="Calibri"/>
              </a:defRPr>
            </a:pPr>
            <a:r>
              <a:t>Q3, Q4, Q7, Q9 تحسّنت</a:t>
            </a:r>
          </a:p>
          <a:p>
            <a:pPr algn="ctr">
              <a:spcBef>
                <a:spcPts val="800"/>
              </a:spcBef>
              <a:defRPr sz="1800" b="1">
                <a:solidFill>
                  <a:srgbClr val="A78BFA"/>
                </a:solidFill>
                <a:latin typeface="Consolas"/>
              </a:defRPr>
            </a:pPr>
            <a:r>
              <a:t>88.5 → 92.1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7830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  <a:latin typeface="Calibri"/>
              </a:defRPr>
            </a:pPr>
            <a:r>
              <a:t>NPS — Reichheld, 2003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14884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"هل توصي؟" 0–10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NPS = %Promoters − %Detractors</a:t>
            </a:r>
          </a:p>
          <a:p>
            <a:pPr algn="l">
              <a:spcBef>
                <a:spcPts val="800"/>
              </a:spcBef>
              <a:defRPr sz="1200" b="0">
                <a:solidFill>
                  <a:srgbClr val="64748B"/>
                </a:solidFill>
                <a:latin typeface="Calibri"/>
              </a:defRPr>
            </a:pPr>
            <a:r>
              <a:t>7% Passives → Promoters</a:t>
            </a:r>
          </a:p>
          <a:p>
            <a:pPr algn="ctr">
              <a:spcBef>
                <a:spcPts val="800"/>
              </a:spcBef>
              <a:defRPr sz="1800" b="1">
                <a:solidFill>
                  <a:srgbClr val="A78BFA"/>
                </a:solidFill>
                <a:latin typeface="Consolas"/>
              </a:defRPr>
            </a:pPr>
            <a:r>
              <a:t>+68 → +75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7830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  <a:latin typeface="Calibri"/>
              </a:defRPr>
            </a:pPr>
            <a:r>
              <a:t>CES — Gartner, 2010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14884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"قديش كان سهل؟" 1–7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أقل = أفضل</a:t>
            </a:r>
          </a:p>
          <a:p>
            <a:pPr algn="l">
              <a:spcBef>
                <a:spcPts val="800"/>
              </a:spcBef>
              <a:defRPr sz="1200" b="0">
                <a:solidFill>
                  <a:srgbClr val="64748B"/>
                </a:solidFill>
                <a:latin typeface="Calibri"/>
              </a:defRPr>
            </a:pPr>
            <a:r>
              <a:t>5 نقاط احتكاك → 0</a:t>
            </a:r>
          </a:p>
          <a:p>
            <a:pPr algn="ctr">
              <a:spcBef>
                <a:spcPts val="800"/>
              </a:spcBef>
              <a:defRPr sz="1800" b="1">
                <a:solidFill>
                  <a:srgbClr val="A78BFA"/>
                </a:solidFill>
                <a:latin typeface="Consolas"/>
              </a:defRPr>
            </a:pPr>
            <a:r>
              <a:t>1.8 → 1.2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846320"/>
            <a:ext cx="1069848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937760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Consolas"/>
              </a:defRPr>
            </a:pPr>
            <a:r>
              <a:t>CES → NPS LINK  (BAIN &amp; COMPANY RESEARCH)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303520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تقليل effort بنقطة CES = 7–10% Passives تتحول لـ Promoters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623560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Calibri"/>
              </a:defRPr>
            </a:pPr>
            <a:r>
              <a:t>CES نزل 0.6 → ~7% تحوّلوا → NPS ارتفع +7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78BFA"/>
                </a:solidFill>
                <a:latin typeface="Consolas"/>
              </a:defRPr>
            </a:pPr>
            <a:r>
              <a:t>المنهجية ⑥⑦⑧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Calibri"/>
              </a:defRPr>
            </a:pPr>
            <a:r>
              <a:t>Funnel · Chargebacks · WCAG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3291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  <a:latin typeface="Calibri"/>
              </a:defRPr>
            </a:pPr>
            <a:r>
              <a:t>Baymard Institute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49 دراسة: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17% يتركون بسبب forms معقدة</a:t>
            </a:r>
          </a:p>
          <a:p>
            <a:pPr algn="l">
              <a:spcBef>
                <a:spcPts val="8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حل المشاكل = يسترجع 34%</a:t>
            </a:r>
          </a:p>
          <a:p>
            <a:pPr algn="l">
              <a:spcBef>
                <a:spcPts val="800"/>
              </a:spcBef>
              <a:defRPr sz="1400" b="1">
                <a:solidFill>
                  <a:srgbClr val="FBBF24"/>
                </a:solidFill>
                <a:latin typeface="Consolas"/>
              </a:defRPr>
            </a:pPr>
            <a:r>
              <a:t>17% × 0.34 = 5.8pp</a:t>
            </a:r>
          </a:p>
          <a:p>
            <a:pPr algn="ctr">
              <a:spcBef>
                <a:spcPts val="800"/>
              </a:spcBef>
              <a:defRPr sz="1800" b="1">
                <a:solidFill>
                  <a:srgbClr val="A78BFA"/>
                </a:solidFill>
                <a:latin typeface="Consolas"/>
              </a:defRPr>
            </a:pPr>
            <a:r>
              <a:t>78.4% → 84.2%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3291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7830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  <a:latin typeface="Calibri"/>
              </a:defRPr>
            </a:pPr>
            <a:r>
              <a:t>Visa Guidelines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14884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50% من chargebacks =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عدم وضوح المبلغ</a:t>
            </a:r>
          </a:p>
          <a:p>
            <a:pPr algn="l">
              <a:spcBef>
                <a:spcPts val="400"/>
              </a:spcBef>
              <a:defRPr sz="8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aria-live يعلن كل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تغيير سعري تلقائياً</a:t>
            </a:r>
          </a:p>
          <a:p>
            <a:pPr algn="ctr">
              <a:spcBef>
                <a:spcPts val="800"/>
              </a:spcBef>
              <a:defRPr sz="1800" b="1">
                <a:solidFill>
                  <a:srgbClr val="A78BFA"/>
                </a:solidFill>
                <a:latin typeface="Consolas"/>
              </a:defRPr>
            </a:pPr>
            <a:r>
              <a:t>0.4% → 0.2%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3291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7830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  <a:latin typeface="Calibri"/>
              </a:defRPr>
            </a:pPr>
            <a:r>
              <a:t>W3C WCAG 2.2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14884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86 Success Criterion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Good: 36 محققة (42%)</a:t>
            </a:r>
          </a:p>
          <a:p>
            <a:pPr algn="l">
              <a:spcBef>
                <a:spcPts val="400"/>
              </a:spcBef>
              <a:defRPr sz="8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300" b="0">
                <a:solidFill>
                  <a:srgbClr val="34D399"/>
                </a:solidFill>
                <a:latin typeface="Calibri"/>
              </a:defRPr>
            </a:pPr>
            <a:r>
              <a:t>+5 criteria كاملة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34D399"/>
                </a:solidFill>
                <a:latin typeface="Calibri"/>
              </a:defRPr>
            </a:pPr>
            <a:r>
              <a:t>+8 criteria جزئية</a:t>
            </a:r>
          </a:p>
          <a:p>
            <a:pPr algn="ctr">
              <a:spcBef>
                <a:spcPts val="800"/>
              </a:spcBef>
              <a:defRPr sz="1800" b="1">
                <a:solidFill>
                  <a:srgbClr val="A78BFA"/>
                </a:solidFill>
                <a:latin typeface="Consolas"/>
              </a:defRPr>
            </a:pPr>
            <a:r>
              <a:t>42 → 58/100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78BFA"/>
                </a:solidFill>
                <a:latin typeface="Consolas"/>
              </a:defRPr>
            </a:pPr>
            <a:r>
              <a:t>ملخص النتائج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Calibri"/>
              </a:defRPr>
            </a:pPr>
            <a:r>
              <a:t>جدول المقارنة الشامل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4748B"/>
                </a:solidFill>
                <a:latin typeface="Consolas"/>
              </a:defRPr>
            </a:pPr>
            <a:r>
              <a:t>المقياس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6459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4748B"/>
                </a:solidFill>
                <a:latin typeface="Consolas"/>
              </a:defRPr>
            </a:pPr>
            <a:r>
              <a:t>Bad 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6459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4748B"/>
                </a:solidFill>
                <a:latin typeface="Consolas"/>
              </a:defRPr>
            </a:pPr>
            <a:r>
              <a:t>Good 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6459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4748B"/>
                </a:solidFill>
                <a:latin typeface="Consolas"/>
              </a:defRPr>
            </a:pPr>
            <a:r>
              <a:t>Very Good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6459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4748B"/>
                </a:solidFill>
                <a:latin typeface="Consolas"/>
              </a:defRPr>
            </a:pPr>
            <a:r>
              <a:t>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645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4748B"/>
                </a:solidFill>
                <a:latin typeface="Consolas"/>
              </a:defRPr>
            </a:pPr>
            <a:r>
              <a:t>النموذج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965960"/>
            <a:ext cx="10241280" cy="254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103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Calibri"/>
              </a:defRPr>
            </a:pPr>
            <a:r>
              <a:t>Time-on-Task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1031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87171"/>
                </a:solidFill>
                <a:latin typeface="Consolas"/>
              </a:defRPr>
            </a:pPr>
            <a:r>
              <a:t>247s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1031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onsolas"/>
              </a:defRPr>
            </a:pPr>
            <a:r>
              <a:t>102s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1031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78BFA"/>
                </a:solidFill>
                <a:latin typeface="Consolas"/>
              </a:defRPr>
            </a:pPr>
            <a:r>
              <a:t>88s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1031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4D399"/>
                </a:solidFill>
                <a:latin typeface="Consolas"/>
              </a:defRPr>
            </a:pPr>
            <a:r>
              <a:t>−14s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103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KLM (1983)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60603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Calibri"/>
              </a:defRPr>
            </a:pPr>
            <a:r>
              <a:t>Error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260603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87171"/>
                </a:solidFill>
                <a:latin typeface="Consolas"/>
              </a:defRPr>
            </a:pPr>
            <a:r>
              <a:t>12.4%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260603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onsolas"/>
              </a:defRPr>
            </a:pPr>
            <a:r>
              <a:t>3.4%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260603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78BFA"/>
                </a:solidFill>
                <a:latin typeface="Consolas"/>
              </a:defRPr>
            </a:pPr>
            <a:r>
              <a:t>1.8%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60603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4D399"/>
                </a:solidFill>
                <a:latin typeface="Consolas"/>
              </a:defRPr>
            </a:pPr>
            <a:r>
              <a:t>−47%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6060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Fitts' Law (1954)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108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Calibri"/>
              </a:defRPr>
            </a:pPr>
            <a:r>
              <a:t>SUS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3108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87171"/>
                </a:solidFill>
                <a:latin typeface="Consolas"/>
              </a:defRPr>
            </a:pPr>
            <a:r>
              <a:t>18.2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3108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onsolas"/>
              </a:defRPr>
            </a:pPr>
            <a:r>
              <a:t>88.5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3108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78BFA"/>
                </a:solidFill>
                <a:latin typeface="Consolas"/>
              </a:defRPr>
            </a:pPr>
            <a:r>
              <a:t>92.1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108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4D399"/>
                </a:solidFill>
                <a:latin typeface="Consolas"/>
              </a:defRPr>
            </a:pPr>
            <a:r>
              <a:t>+3.6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3108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Brooke (1986)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611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Calibri"/>
              </a:defRPr>
            </a:pPr>
            <a:r>
              <a:t>NPS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3611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87171"/>
                </a:solidFill>
                <a:latin typeface="Consolas"/>
              </a:defRPr>
            </a:pPr>
            <a:r>
              <a:t>−67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3611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onsolas"/>
              </a:defRPr>
            </a:pPr>
            <a:r>
              <a:t>+68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3611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78BFA"/>
                </a:solidFill>
                <a:latin typeface="Consolas"/>
              </a:defRPr>
            </a:pPr>
            <a:r>
              <a:t>+75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611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4D399"/>
                </a:solidFill>
                <a:latin typeface="Consolas"/>
              </a:defRPr>
            </a:pPr>
            <a:r>
              <a:t>+7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3611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Reichheld (2003)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4114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Calibri"/>
              </a:defRPr>
            </a:pPr>
            <a:r>
              <a:t>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0" y="4114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87171"/>
                </a:solidFill>
                <a:latin typeface="Consolas"/>
              </a:defRPr>
            </a:pPr>
            <a:r>
              <a:t>6.1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4114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onsolas"/>
              </a:defRPr>
            </a:pPr>
            <a:r>
              <a:t>1.8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4114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78BFA"/>
                </a:solidFill>
                <a:latin typeface="Consolas"/>
              </a:defRPr>
            </a:pPr>
            <a:r>
              <a:t>1.2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114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4D399"/>
                </a:solidFill>
                <a:latin typeface="Consolas"/>
              </a:defRPr>
            </a:pPr>
            <a:r>
              <a:t>−0.6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Gartner (2010)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4617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Calibri"/>
              </a:defRPr>
            </a:pPr>
            <a:r>
              <a:t>Funnel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0" y="4617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87171"/>
                </a:solidFill>
                <a:latin typeface="Consolas"/>
              </a:defRPr>
            </a:pPr>
            <a:r>
              <a:t>23.1%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0" y="4617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onsolas"/>
              </a:defRPr>
            </a:pPr>
            <a:r>
              <a:t>78.4%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0" y="4617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78BFA"/>
                </a:solidFill>
                <a:latin typeface="Consolas"/>
              </a:defRPr>
            </a:pPr>
            <a:r>
              <a:t>84.2%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4617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4D399"/>
                </a:solidFill>
                <a:latin typeface="Consolas"/>
              </a:defRPr>
            </a:pPr>
            <a:r>
              <a:t>+5.8pp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4617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Baymard (2024)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51206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Calibri"/>
              </a:defRPr>
            </a:pPr>
            <a:r>
              <a:t>Chargebacks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200" y="5120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87171"/>
                </a:solidFill>
                <a:latin typeface="Consolas"/>
              </a:defRPr>
            </a:pPr>
            <a:r>
              <a:t>4.2%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0" y="5120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onsolas"/>
              </a:defRPr>
            </a:pPr>
            <a:r>
              <a:t>0.4%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5120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78BFA"/>
                </a:solidFill>
                <a:latin typeface="Consolas"/>
              </a:defRPr>
            </a:pPr>
            <a:r>
              <a:t>0.2%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0" y="5120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4D399"/>
                </a:solidFill>
                <a:latin typeface="Consolas"/>
              </a:defRPr>
            </a:pPr>
            <a:r>
              <a:t>−50%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120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Visa Guidelines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" y="5623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Calibri"/>
              </a:defRPr>
            </a:pPr>
            <a:r>
              <a:t>WCAG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43200" y="5623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87171"/>
                </a:solidFill>
                <a:latin typeface="Consolas"/>
              </a:defRPr>
            </a:pPr>
            <a:r>
              <a:t>18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14800" y="5623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onsolas"/>
              </a:defRPr>
            </a:pPr>
            <a:r>
              <a:t>42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0" y="5623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78BFA"/>
                </a:solidFill>
                <a:latin typeface="Consolas"/>
              </a:defRPr>
            </a:pPr>
            <a:r>
              <a:t>58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0" y="5623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4D399"/>
                </a:solidFill>
                <a:latin typeface="Consolas"/>
              </a:defRPr>
            </a:pPr>
            <a:r>
              <a:t>+16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29600" y="5623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W3C (2023)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78BFA"/>
                </a:solidFill>
                <a:latin typeface="Consolas"/>
              </a:defRPr>
            </a:pPr>
            <a:r>
              <a:t>سلسلة القياس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Calibri"/>
              </a:defRPr>
            </a:pPr>
            <a:r>
              <a:t>المعيار → الكود → السلوك → المقياس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Consolas"/>
              </a:defRPr>
            </a:pPr>
            <a:r>
              <a:t>WCAG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645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Consolas"/>
              </a:defRPr>
            </a:pPr>
            <a:r>
              <a:t>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645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Consolas"/>
              </a:defRPr>
            </a:pPr>
            <a:r>
              <a:t>BEHAVIOR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16459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Consolas"/>
              </a:defRPr>
            </a:pPr>
            <a:r>
              <a:t>METRIC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onsolas"/>
              </a:defRPr>
            </a:pPr>
            <a:r>
              <a:t>4.1.3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103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  <a:latin typeface="Consolas"/>
              </a:defRPr>
            </a:pPr>
            <a:r>
              <a:t>aria-live="polite"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BBF24"/>
                </a:solidFill>
                <a:latin typeface="Calibri"/>
              </a:defRPr>
            </a:pPr>
            <a:r>
              <a:t>Screen reader ينطق السعر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2103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Calibri"/>
              </a:defRPr>
            </a:pPr>
            <a:r>
              <a:t>Chargeback 0.4→0.2%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103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103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103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697480"/>
            <a:ext cx="10515600" cy="127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743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onsolas"/>
              </a:defRPr>
            </a:pPr>
            <a:r>
              <a:t>1.3.1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2743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  <a:latin typeface="Consolas"/>
              </a:defRPr>
            </a:pPr>
            <a:r>
              <a:t>htmlFor="checkout-name"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743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BBF24"/>
                </a:solidFill>
                <a:latin typeface="Calibri"/>
              </a:defRPr>
            </a:pPr>
            <a:r>
              <a:t>ضغط العنوان يفتح الحقل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743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Calibri"/>
              </a:defRPr>
            </a:pPr>
            <a:r>
              <a:t>Error 3.4→1.8%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27432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27432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7432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337560"/>
            <a:ext cx="10515600" cy="127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3832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onsolas"/>
              </a:defRPr>
            </a:pPr>
            <a:r>
              <a:t>1.3.5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338327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  <a:latin typeface="Consolas"/>
              </a:defRPr>
            </a:pPr>
            <a:r>
              <a:t>inputMode="numeric"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33832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BBF24"/>
                </a:solidFill>
                <a:latin typeface="Calibri"/>
              </a:defRPr>
            </a:pPr>
            <a:r>
              <a:t>كيبورد الأرقام مباشرة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338327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Calibri"/>
              </a:defRPr>
            </a:pPr>
            <a:r>
              <a:t>Time 102→88s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3383279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3383279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3383279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3977639"/>
            <a:ext cx="10515600" cy="127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0233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onsolas"/>
              </a:defRPr>
            </a:pPr>
            <a:r>
              <a:t>1.3.5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402335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  <a:latin typeface="Consolas"/>
              </a:defRPr>
            </a:pPr>
            <a:r>
              <a:t>autoComplete="cc-number"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402335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BBF24"/>
                </a:solidFill>
                <a:latin typeface="Calibri"/>
              </a:defRPr>
            </a:pPr>
            <a:r>
              <a:t>بطاقة محفوظة بنقرة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402335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Calibri"/>
              </a:defRPr>
            </a:pPr>
            <a:r>
              <a:t>CES 1.8→1.2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68880" y="4023359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4023359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4023359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4617720"/>
            <a:ext cx="10515600" cy="127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4663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onsolas"/>
              </a:defRPr>
            </a:pPr>
            <a:r>
              <a:t>2.1.1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0" y="4663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  <a:latin typeface="Consolas"/>
              </a:defRPr>
            </a:pPr>
            <a:r>
              <a:t>tabIndex={0}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4663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BBF24"/>
                </a:solidFill>
                <a:latin typeface="Calibri"/>
              </a:defRPr>
            </a:pPr>
            <a:r>
              <a:t>كيبورد يتنقل بالإضافات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26880" y="4663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Calibri"/>
              </a:defRPr>
            </a:pPr>
            <a:r>
              <a:t>Funnel 78.4→84.2%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68880" y="4663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0" y="4663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52560" y="4663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" y="5257800"/>
            <a:ext cx="10515600" cy="127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5303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onsolas"/>
              </a:defRPr>
            </a:pPr>
            <a:r>
              <a:t>4.1.2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0" y="5303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  <a:latin typeface="Consolas"/>
              </a:defRPr>
            </a:pPr>
            <a:r>
              <a:t>aria-label + aria-pressed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43600" y="5303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BBF24"/>
                </a:solidFill>
                <a:latin typeface="Calibri"/>
              </a:defRPr>
            </a:pPr>
            <a:r>
              <a:t>أزرار تصف نفسها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26880" y="5303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Calibri"/>
              </a:defRPr>
            </a:pPr>
            <a:r>
              <a:t>SUS 88.5→92.1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68880" y="5303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69280" y="5303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52560" y="5303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78BFA"/>
                </a:solidFill>
                <a:latin typeface="Consolas"/>
              </a:defRPr>
            </a:pPr>
            <a:r>
              <a:t>المراجع الأكاديمية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[1]  W3C. "WCAG 2.2." W3C Recommendation, Oct 2023.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[2]  Brooke, J. "SUS: A Quick and Dirty Usability Scale." Taylor &amp; Francis, 1996.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[3]  Reichheld, F. "The One Number You Need to Grow." HBR, Dec 2003.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3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[4]  Dixon, M. et al. "The Effortless Experience." Gartner/CEB, 2013.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[5]  Card, S. et al. "Psychology of HCI." Erlbaum, 1983.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[6]  Fitts, P. "Information Capacity of the Human Motor System." J. Exp. Psych., 1954.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[7]  Nielsen, J. "10 Usability Heuristics." NNGroup, 1994.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94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[8]  Baymard Institute. "Cart Abandonment Statistics." 2024. (n=49)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743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[9]  Visa Inc. "Chargeback Management Guidelines." 2024.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29183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[10] Brignull, H. "Deceptive Design Patterns." deceptivedesign.net, 2010–2024.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840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[11] Kahneman &amp; Tversky. "Prospect Theory." Econometrica, 1979.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389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[12] European Accessibility Act (Directive 2019/882), June 2025.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A78BFA"/>
                </a:solidFill>
                <a:latin typeface="Consolas"/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8FAFC"/>
                </a:solidFill>
                <a:latin typeface="Calibri"/>
              </a:defRPr>
            </a:pPr>
            <a:r>
              <a:t>fairreserve.duckdns.org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78BFA"/>
                </a:solidFill>
                <a:latin typeface="Calibri"/>
              </a:defRPr>
            </a:pPr>
            <a:r>
              <a:t>6 تقنيات · 37 attribute · 14 ملفاً · 8 مقاييس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4D399"/>
                </a:solidFill>
                <a:latin typeface="Calibri"/>
              </a:defRPr>
            </a:pPr>
            <a:r>
              <a:t>Member 1: حلّت مشكلة الأخلاقيات (Bad → Good)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78BFA"/>
                </a:solidFill>
                <a:latin typeface="Calibri"/>
              </a:defRPr>
            </a:pPr>
            <a:r>
              <a:t>Member 2: حلّ مشكلة الشمولية (Good → Very Good)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FairReserve UX Conflict Lab · September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